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EF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1005840"/>
            <a:ext cx="2011680" cy="109728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1325880"/>
            <a:ext cx="1325880" cy="109728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1645920"/>
            <a:ext cx="1691640" cy="109728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7589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176B87"/>
                </a:solidFill>
                <a:latin typeface="Aptos"/>
              </a:defRPr>
            </a:pPr>
            <a:r>
              <a:t>OPERATING SYSTEMS • MINI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758952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200" b="1">
                <a:solidFill>
                  <a:srgbClr val="163A5F"/>
                </a:solidFill>
                <a:latin typeface="Aptos"/>
              </a:defRPr>
            </a:pPr>
            <a:r>
              <a:t>Inter-Process Chat</a:t>
            </a:r>
            <a:br/>
            <a:r>
              <a:t>Application Using IPC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66160"/>
            <a:ext cx="7223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28323C"/>
                </a:solidFill>
                <a:latin typeface="Aptos"/>
              </a:defRPr>
            </a:pPr>
            <a:r>
              <a:t>A terminal-based two-user chat system using C and POSIX named pipes on Ubuntu Linux.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257800"/>
            <a:ext cx="7132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64707A"/>
                </a:solidFill>
                <a:latin typeface="Aptos"/>
              </a:defRPr>
            </a:pPr>
            <a:r>
              <a:t>C Programming  |  Linux  |  POSIX FIFOs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89320"/>
            <a:ext cx="7132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64707A"/>
                </a:solidFill>
                <a:latin typeface="Aptos"/>
              </a:defRPr>
            </a:pPr>
            <a:r>
              <a:t>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163A5F"/>
                </a:solidFill>
                <a:latin typeface="Aptos"/>
              </a:defRPr>
            </a:pPr>
            <a:r>
              <a:t>What if two independent Linux processes could chat without a network server?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8323C"/>
                </a:solidFill>
                <a:latin typeface="Aptos"/>
              </a:defRPr>
            </a:pPr>
            <a:r>
              <a:t>This project uses the operating system’s IPC facilities to pass text messages between two terminal-based participants.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3429000" cy="196596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37560"/>
            <a:ext cx="73152" cy="19659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5021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Alice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77639"/>
            <a:ext cx="3044952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Runs in Terminal 1</a:t>
            </a:r>
            <a:br/>
            <a:r>
              <a:t>Types and sends messages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37560"/>
            <a:ext cx="3429000" cy="196596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3337560"/>
            <a:ext cx="73152" cy="1965960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35021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IPC channel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977639"/>
            <a:ext cx="3044952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Two named pipes carry data in opposite directions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337560"/>
            <a:ext cx="3429000" cy="196596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337560"/>
            <a:ext cx="73152" cy="196596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502152"/>
            <a:ext cx="3063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Bob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977639"/>
            <a:ext cx="3044952" cy="1216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Runs in Terminal 2</a:t>
            </a:r>
            <a:br/>
            <a:r>
              <a:t>Receives and replies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064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7A"/>
                </a:solidFill>
                <a:latin typeface="Aptos"/>
              </a:defRPr>
            </a:pPr>
            <a:r>
              <a:t>Scope: two users on the same Linux machine; terminal interface; no network sockets.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WHY THIS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201168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20116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4828032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C"/>
                </a:solidFill>
                <a:latin typeface="Aptos"/>
              </a:defRPr>
            </a:pPr>
            <a:r>
              <a:t>Independent processes have separate execution contexts. A clear, OS-supported mechanism is needed to exchange data between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201168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73152" cy="2011680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9047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65960"/>
            <a:ext cx="4828032" cy="1261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C"/>
                </a:solidFill>
                <a:latin typeface="Aptos"/>
              </a:defRPr>
            </a:pPr>
            <a:r>
              <a:t>Build a small C application that transfers messages through named pipes and lets both participants send and receive.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94760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76B87"/>
                </a:solidFill>
                <a:latin typeface="Aptos"/>
              </a:defRPr>
            </a:pPr>
            <a:r>
              <a:t>KEY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51960"/>
            <a:ext cx="10424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Demonstrate real IPC between independent processes.</a:t>
            </a:r>
          </a:p>
          <a:p>
            <a:pPr>
              <a:spcAft>
                <a:spcPts val="8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Support bidirectional messaging through separate FIFO channels.</a:t>
            </a:r>
          </a:p>
          <a:p>
            <a:pPr>
              <a:spcAft>
                <a:spcPts val="8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Practice Linux system calls, concurrent I/O, error handling, and cleanup.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83464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73152" cy="13258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Alice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14600"/>
            <a:ext cx="24505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8323C"/>
                </a:solidFill>
                <a:latin typeface="Aptos"/>
              </a:defRPr>
            </a:pPr>
            <a:r>
              <a:t>Terminal 1</a:t>
            </a:r>
            <a:br/>
            <a:r>
              <a:t>Outgoing + incoming I/O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1874519"/>
            <a:ext cx="2834640" cy="132588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41080" y="1874519"/>
            <a:ext cx="73152" cy="132588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42248" y="2039112"/>
            <a:ext cx="2468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Bob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2514600"/>
            <a:ext cx="245059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28323C"/>
                </a:solidFill>
                <a:latin typeface="Aptos"/>
              </a:defRPr>
            </a:pPr>
            <a:r>
              <a:t>Terminal 2</a:t>
            </a:r>
            <a:br/>
            <a:r>
              <a:t>Outgoing + incoming I/O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1508760"/>
            <a:ext cx="3886200" cy="105156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508760"/>
            <a:ext cx="73152" cy="1051560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673351"/>
            <a:ext cx="3520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FIFO A →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1688" y="2148839"/>
            <a:ext cx="3502152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28323C"/>
                </a:solidFill>
                <a:latin typeface="Aptos"/>
              </a:defRPr>
            </a:pPr>
            <a:r>
              <a:t>Carries Alice’s messages to Bob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2880360"/>
            <a:ext cx="3886200" cy="105156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2880360"/>
            <a:ext cx="73152" cy="105156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1688" y="3044952"/>
            <a:ext cx="35204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FIFO B → 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520439"/>
            <a:ext cx="3502152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28323C"/>
                </a:solidFill>
                <a:latin typeface="Aptos"/>
              </a:defRPr>
            </a:pPr>
            <a:r>
              <a:t>Carries Bob’s messages to Alice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3566160" y="2011680"/>
            <a:ext cx="594360" cy="228600"/>
          </a:xfrm>
          <a:prstGeom prst="line">
            <a:avLst/>
          </a:prstGeom>
          <a:ln w="2540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46720" y="2011680"/>
            <a:ext cx="594360" cy="228600"/>
          </a:xfrm>
          <a:prstGeom prst="line">
            <a:avLst/>
          </a:prstGeom>
          <a:ln w="2540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8046720" y="2651760"/>
            <a:ext cx="594360" cy="731520"/>
          </a:xfrm>
          <a:prstGeom prst="line">
            <a:avLst/>
          </a:prstGeom>
          <a:ln w="2540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3566160" y="2651760"/>
            <a:ext cx="594360" cy="731520"/>
          </a:xfrm>
          <a:prstGeom prst="line">
            <a:avLst/>
          </a:prstGeom>
          <a:ln w="25400">
            <a:solidFill>
              <a:srgbClr val="176B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47548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C"/>
                </a:solidFill>
                <a:latin typeface="Aptos"/>
              </a:defRPr>
            </a:pPr>
            <a:r>
              <a:t>Design principle: use one FIFO per direction. FIFO data is a byte stream, so the application must define message framing and handle partial reads/writes.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7A"/>
                </a:solidFill>
                <a:latin typeface="Aptos"/>
              </a:defRPr>
            </a:pPr>
            <a:r>
              <a:t>The Linux kernel manages FIFO buffers and delivers data to readers.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FROM STARTUP TO SHUTDOWN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298448"/>
            <a:ext cx="502920" cy="50292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298448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3A5F"/>
                </a:solidFill>
                <a:latin typeface="Aptos"/>
              </a:defRPr>
            </a:pPr>
            <a:r>
              <a:t>Initialize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98448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Validate arguments and prepare session-specific FIFO paths.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31136"/>
            <a:ext cx="502920" cy="50292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2860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31136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3A5F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231136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Open the incoming and outgoing channels safely.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163824"/>
            <a:ext cx="502920" cy="50292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1868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163824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3A5F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63824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Use select() or poll() to wait for keyboard input and incoming messages.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096512"/>
            <a:ext cx="502920" cy="50292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151376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096512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3A5F"/>
                </a:solidFill>
                <a:latin typeface="Aptos"/>
              </a:defRPr>
            </a:pPr>
            <a:r>
              <a:t>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096512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Frame messages and handle partial reads/writes.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502920" cy="502920"/>
          </a:xfrm>
          <a:prstGeom prst="ellipse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084064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029200"/>
            <a:ext cx="1920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63A5F"/>
                </a:solidFill>
                <a:latin typeface="Aptos"/>
              </a:defRPr>
            </a:pPr>
            <a: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5029200"/>
            <a:ext cx="7680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Handle /exit, peer loss, signals, and resource cleanup.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64707A"/>
                </a:solidFill>
                <a:latin typeface="Aptos"/>
              </a:defRPr>
            </a:pPr>
            <a:r>
              <a:t>Implementation details must be checked against the actual source code before presenting them as completed.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TOOLS &amp; SYSTEM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164592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73152" cy="164592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C + GCC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309067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Core implementation language and compiler.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74720" cy="164592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3152" cy="1645920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Ubuntu 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65960"/>
            <a:ext cx="309067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Execution environment and POSIX system interfaces.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74720" cy="164592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73152" cy="164592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POSIX FIFOs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65960"/>
            <a:ext cx="309067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Kernel-managed named pipes for inter-process data transfer.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429000"/>
            <a:ext cx="3108960" cy="438912"/>
          </a:xfrm>
          <a:prstGeom prst="rect">
            <a:avLst/>
          </a:prstGeom>
          <a:solidFill>
            <a:srgbClr val="163A5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502152"/>
            <a:ext cx="2907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API / Concept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429000"/>
            <a:ext cx="7863840" cy="438912"/>
          </a:xfrm>
          <a:prstGeom prst="rect">
            <a:avLst/>
          </a:prstGeom>
          <a:solidFill>
            <a:srgbClr val="163A5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3502152"/>
            <a:ext cx="766267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Role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867912"/>
            <a:ext cx="3108960" cy="438912"/>
          </a:xfrm>
          <a:prstGeom prst="rect">
            <a:avLst/>
          </a:prstGeom>
          <a:solidFill>
            <a:srgbClr val="EFF6F9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941064"/>
            <a:ext cx="2907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mkfifo()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867912"/>
            <a:ext cx="7863840" cy="438912"/>
          </a:xfrm>
          <a:prstGeom prst="rect">
            <a:avLst/>
          </a:prstGeom>
          <a:solidFill>
            <a:srgbClr val="EFF6F9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41648" y="3941064"/>
            <a:ext cx="766267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Create named pipe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4306824"/>
            <a:ext cx="3108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379976"/>
            <a:ext cx="2907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open(), read(), write()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306824"/>
            <a:ext cx="7863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41648" y="4379976"/>
            <a:ext cx="766267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Open channels and transfer bytes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745736"/>
            <a:ext cx="3108960" cy="438912"/>
          </a:xfrm>
          <a:prstGeom prst="rect">
            <a:avLst/>
          </a:prstGeom>
          <a:solidFill>
            <a:srgbClr val="EFF6F9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18888"/>
            <a:ext cx="2907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select() / poll()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4745736"/>
            <a:ext cx="7863840" cy="438912"/>
          </a:xfrm>
          <a:prstGeom prst="rect">
            <a:avLst/>
          </a:prstGeom>
          <a:solidFill>
            <a:srgbClr val="EFF6F9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41648" y="4818888"/>
            <a:ext cx="766267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Monitor multiple input sources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5184648"/>
            <a:ext cx="3108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5257800"/>
            <a:ext cx="2907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close(), unlink()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5184648"/>
            <a:ext cx="78638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41648" y="5257800"/>
            <a:ext cx="766267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Release descriptors and remove owned FIFO paths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" y="5623560"/>
            <a:ext cx="3108960" cy="438912"/>
          </a:xfrm>
          <a:prstGeom prst="rect">
            <a:avLst/>
          </a:prstGeom>
          <a:solidFill>
            <a:srgbClr val="EFF6F9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696712"/>
            <a:ext cx="290779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fork(), waitpid()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31920" y="5623560"/>
            <a:ext cx="7863840" cy="438912"/>
          </a:xfrm>
          <a:prstGeom prst="rect">
            <a:avLst/>
          </a:prstGeom>
          <a:solidFill>
            <a:srgbClr val="EFF6F9"/>
          </a:solidFill>
          <a:ln>
            <a:solidFill>
              <a:srgbClr val="DC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41648" y="5696712"/>
            <a:ext cx="7662671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28323C"/>
                </a:solidFill>
                <a:latin typeface="Aptos"/>
              </a:defRPr>
            </a:pPr>
            <a:r>
              <a:t>Process management if used by the implementation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626364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64707A"/>
                </a:solidFill>
                <a:latin typeface="Aptos"/>
              </a:defRPr>
            </a:pPr>
            <a:r>
              <a:t>Only APIs actually present in the final implementation should be listed as 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WHAT SHOULD BE VERIFIED?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163A5F"/>
                </a:solidFill>
                <a:latin typeface="Aptos"/>
              </a:defRPr>
            </a:pPr>
            <a:r>
              <a:t>Test the behavior, not just whether the program compiles.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5166360" cy="896112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73152" cy="8961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13055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06039"/>
            <a:ext cx="47823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8323C"/>
                </a:solidFill>
                <a:latin typeface="Aptos"/>
              </a:defRPr>
            </a:pPr>
            <a:r>
              <a:t>Compile with -Wall -Wextra -Wpedantic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965960"/>
            <a:ext cx="5166360" cy="896112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1965960"/>
            <a:ext cx="73152" cy="896112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7" y="213055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Bidirectional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7" y="2606039"/>
            <a:ext cx="47823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8323C"/>
                </a:solidFill>
                <a:latin typeface="Aptos"/>
              </a:defRPr>
            </a:pPr>
            <a:r>
              <a:t>Alice → Bob and Bob → Alice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108960"/>
            <a:ext cx="5166360" cy="896112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108960"/>
            <a:ext cx="73152" cy="8961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27355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Message handling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749039"/>
            <a:ext cx="47823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8323C"/>
                </a:solidFill>
                <a:latin typeface="Aptos"/>
              </a:defRPr>
            </a:pPr>
            <a:r>
              <a:t>Spaces, punctuation, rapid messages, and size boundaries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3108960"/>
            <a:ext cx="5166360" cy="896112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3108960"/>
            <a:ext cx="73152" cy="896112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7" y="327355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Shutdown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7" y="3749039"/>
            <a:ext cx="47823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8323C"/>
                </a:solidFill>
                <a:latin typeface="Aptos"/>
              </a:defRPr>
            </a:pPr>
            <a:r>
              <a:t>/exit, Ctrl+C, and peer termination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51960"/>
            <a:ext cx="5166360" cy="896112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251960"/>
            <a:ext cx="73152" cy="896112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41655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Resource safety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892040"/>
            <a:ext cx="47823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8323C"/>
                </a:solidFill>
                <a:latin typeface="Aptos"/>
              </a:defRPr>
            </a:pPr>
            <a:r>
              <a:t>FIFO creation, permissions, and cleanup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4251960"/>
            <a:ext cx="5166360" cy="896112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4251960"/>
            <a:ext cx="73152" cy="896112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7" y="4416552"/>
            <a:ext cx="4800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Invalid 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7" y="4892040"/>
            <a:ext cx="4782312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28323C"/>
                </a:solidFill>
                <a:latin typeface="Aptos"/>
              </a:defRPr>
            </a:pPr>
            <a:r>
              <a:t>Bad arguments and startup failures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715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B4731E"/>
                </a:solidFill>
                <a:latin typeface="Aptos"/>
              </a:defRPr>
            </a:pPr>
            <a:r>
              <a:t>Evidence status: this presentation does not claim that tests passed. Record observed results after running the implementation in two Ubuntu terminals.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Results &amp;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REPORT ONLY OBSERVED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92024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Expected functional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48280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C"/>
                </a:solidFill>
                <a:latin typeface="Aptos"/>
              </a:defRPr>
            </a:pPr>
            <a:r>
              <a:t>Two participants can exchange text in both directions through FIFO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192024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92024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Technical result to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57400"/>
            <a:ext cx="4828032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C"/>
                </a:solidFill>
                <a:latin typeface="Aptos"/>
              </a:defRPr>
            </a:pPr>
            <a:r>
              <a:t>Correct message framing, prompt display, graceful shutdown, and cleanup.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163A5F"/>
                </a:solidFill>
                <a:latin typeface="Aptos"/>
              </a:defRPr>
            </a:pPr>
            <a:r>
              <a:t>RESULTS TABLE — COMPLETE AFTER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28323C"/>
                </a:solidFill>
                <a:latin typeface="Aptos"/>
              </a:defRPr>
            </a:pPr>
            <a:r>
              <a:t>Compilation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8912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B4731E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28323C"/>
                </a:solidFill>
                <a:latin typeface="Aptos"/>
              </a:defRPr>
            </a:pPr>
            <a:r>
              <a:t>Alice → Bob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773168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B4731E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5721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28323C"/>
                </a:solidFill>
                <a:latin typeface="Aptos"/>
              </a:defRPr>
            </a:pPr>
            <a:r>
              <a:t>Bob → Alice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157216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B4731E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4126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1">
                <a:solidFill>
                  <a:srgbClr val="28323C"/>
                </a:solidFill>
                <a:latin typeface="Aptos"/>
              </a:defRPr>
            </a:pPr>
            <a:r>
              <a:t>Exit &amp; cleanup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5541264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B4731E"/>
                </a:solidFill>
                <a:latin typeface="Aptos"/>
              </a:defRPr>
            </a:pPr>
            <a:r>
              <a:t>Pending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08076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64707A"/>
                </a:solidFill>
                <a:latin typeface="Aptos"/>
              </a:defRPr>
            </a:pPr>
            <a:r>
              <a:t>Do not replace “Pending verification” with “Passed” until the test has actually been performed.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Impact &amp; Learning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747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73152" cy="182880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Conceptual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3090672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Turns IPC theory into a visible, hands-on demonstration.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747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73152" cy="1828800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361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Engineering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11680"/>
            <a:ext cx="3090672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Highlights framing, concurrency, error handling, and resource lifecycle.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361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Practical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11680"/>
            <a:ext cx="3090672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A local educational prototype; not a secure or production chat service.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176B87"/>
                </a:solidFill>
                <a:latin typeface="Aptos"/>
              </a:defRPr>
            </a:pPr>
            <a:r>
              <a:t>Skills demonstrated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43400"/>
            <a:ext cx="10332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Working with POSIX system calls and Linux file descriptors.</a:t>
            </a:r>
          </a:p>
          <a:p>
            <a:pPr>
              <a:spcAft>
                <a:spcPts val="8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Designing a two-way communication protocol over byte streams.</a:t>
            </a:r>
          </a:p>
          <a:p>
            <a:pPr>
              <a:spcAft>
                <a:spcPts val="800"/>
              </a:spcAft>
              <a:defRPr sz="1700">
                <a:solidFill>
                  <a:srgbClr val="28323C"/>
                </a:solidFill>
                <a:latin typeface="Aptos"/>
              </a:defRPr>
            </a:pPr>
            <a:r>
              <a:t>Testing process failures and cleaning up operating-system resources.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700" b="1">
                <a:solidFill>
                  <a:srgbClr val="163A5F"/>
                </a:solidFill>
                <a:latin typeface="Aptos"/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41832"/>
            <a:ext cx="914400" cy="54864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91640" y="8321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64707A"/>
                </a:solidFill>
                <a:latin typeface="Aptos"/>
              </a:defRPr>
            </a:pPr>
            <a:r>
              <a:t>NEXT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70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38328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176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819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4828032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28323C"/>
                </a:solidFill>
                <a:latin typeface="Aptos"/>
              </a:defRPr>
            </a:pPr>
            <a:r>
              <a:t>• Baseline is designed for two local participants</a:t>
            </a:r>
            <a:br/>
            <a:r>
              <a:t>• No encryption or authentication by default</a:t>
            </a:r>
            <a:br/>
            <a:r>
              <a:t>• No persistent chat history</a:t>
            </a:r>
            <a:br/>
            <a:r>
              <a:t>• Terminal-based interface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3383280"/>
          </a:xfrm>
          <a:prstGeom prst="roundRect">
            <a:avLst/>
          </a:prstGeom>
          <a:solidFill>
            <a:srgbClr val="EFF6F9"/>
          </a:solidFill>
          <a:ln>
            <a:solidFill>
              <a:srgbClr val="DC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3383280"/>
          </a:xfrm>
          <a:prstGeom prst="rect">
            <a:avLst/>
          </a:prstGeom>
          <a:solidFill>
            <a:srgbClr val="288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819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63A5F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57400"/>
            <a:ext cx="4828032" cy="2633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28323C"/>
                </a:solidFill>
                <a:latin typeface="Aptos"/>
              </a:defRPr>
            </a:pPr>
            <a:r>
              <a:t>• Multi-user support</a:t>
            </a:r>
            <a:br/>
            <a:r>
              <a:t>• Timestamps and optional history</a:t>
            </a:r>
            <a:br/>
            <a:r>
              <a:t>• Authentication and access controls</a:t>
            </a:r>
            <a:br/>
            <a:r>
              <a:t>• Automated integration tests</a:t>
            </a:r>
            <a:br/>
            <a:r>
              <a:t>• Compare FIFOs with message queues or Unix sockets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163A5F"/>
                </a:solidFill>
                <a:latin typeface="Aptos"/>
              </a:defRPr>
            </a:pPr>
            <a:r>
              <a:t>Prioritize correctness and safe resource cleanup before adding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1">
                <a:solidFill>
                  <a:srgbClr val="8CDCD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5156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 small chat application can reveal big OS concepts.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9875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Aptos"/>
              </a:defRPr>
            </a:pPr>
            <a:r>
              <a:t>Using named pipes, two independent processes can exchange data while demonstrating system calls, concurrent I/O, message framing, and resource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1">
                <a:solidFill>
                  <a:srgbClr val="8CDCDC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63640"/>
            <a:ext cx="10424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000" b="0">
                <a:solidFill>
                  <a:srgbClr val="D2DCE6"/>
                </a:solidFill>
                <a:latin typeface="Aptos"/>
              </a:defRPr>
            </a:pPr>
            <a:r>
              <a:t>Verify implementation details and test outcomes before the final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Inter-Process Chat Application Using IPC</dc:title>
  <dc:subject>Operating Systems project presentation</dc:subject>
  <dc:creator>OpenAI</dc:creator>
  <cp:keywords>IPC, FIFOs, C, Ubuntu, Operating Systems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